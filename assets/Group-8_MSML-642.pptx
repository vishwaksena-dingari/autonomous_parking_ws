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jzqflHln+0+tIFikHdRfGkSzzX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C9723E-40F3-43EE-BB09-722605BC8AD1}">
  <a:tblStyle styleId="{8DC9723E-40F3-43EE-BB09-722605BC8A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ldStandardTT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10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0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11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1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17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1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b="0" i="0" sz="18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html/2407.01333v1" TargetMode="External"/><Relationship Id="rId4" Type="http://schemas.openxmlformats.org/officeDocument/2006/relationships/hyperlink" Target="https://github.com/Harish-Balaji-B/Ros2_humble_Autonomous_Parking_System_using_Turtlebot3_Waffle/" TargetMode="External"/><Relationship Id="rId5" Type="http://schemas.openxmlformats.org/officeDocument/2006/relationships/hyperlink" Target="https://github.com/aatmaj28/Autonomous-Car-Parking-RL" TargetMode="External"/><Relationship Id="rId6" Type="http://schemas.openxmlformats.org/officeDocument/2006/relationships/hyperlink" Target="https://arxiv.org/abs/1707.06347" TargetMode="External"/><Relationship Id="rId7" Type="http://schemas.openxmlformats.org/officeDocument/2006/relationships/hyperlink" Target="https://arxiv.org/abs/1805.0829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512700" y="169350"/>
            <a:ext cx="8118600" cy="15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HIERARCHICAL REINFORCEMENT LEARNING FOR AUTONOMOUS PARKING</a:t>
            </a:r>
            <a:endParaRPr sz="1900">
              <a:solidFill>
                <a:schemeClr val="dk1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1800"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112300" y="2072250"/>
            <a:ext cx="4919400" cy="49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Combining A* Path Planning with PPO Control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673300" y="3746650"/>
            <a:ext cx="2649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MSML 642 ROBOTICS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603675" y="3670625"/>
            <a:ext cx="2780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Vishwaksena Dingari   </a:t>
            </a:r>
            <a:b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121113764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311700" y="445025"/>
            <a:ext cx="370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b="0" i="0" lang="en" sz="18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RESULTS     </a:t>
            </a:r>
            <a:endParaRPr b="0" i="0" sz="1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 title="viz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400" y="445026"/>
            <a:ext cx="5379149" cy="44362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300200" y="1230850"/>
            <a:ext cx="27618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Summary (2M steps, ~12 hours)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 Reward increased from 6K → 23K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 Length stable at ~125 steps (efficient navigation)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Policy Std decreased 0.99 → 0.19 (exploration → control)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Loss converged from 6M → 1.7M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is consistently improving, stabilizing, and following A* waypoint plans with high precision.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AUTONOMOUS PARKING IN LOTS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304400" y="1072350"/>
            <a:ext cx="4471500" cy="3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state (x, y, yaw, v)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bay location,</a:t>
            </a:r>
            <a:r>
              <a:rPr lang="en" sz="1200"/>
              <a:t> yaw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64-ray Lidar scan (360°, 20m)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Steering ∈ [-1, 1]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Throttle ∈ [-1, 1]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Horizon: 10-25 meter navigation, 500-2000 timesteps/episode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Multi-Orientation: Bays face different directions, Rotation-invariant parking, Progressive curriculum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Parking: Position: &lt;0.5m error, Orientation: &lt;10° error, Must stop completely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275" y="1134000"/>
            <a:ext cx="3612450" cy="37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 ARCHITECTURE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311700" y="1152475"/>
            <a:ext cx="36111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PLANNER (A*)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0.25 m grid-based search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Collision + corridor checks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 cutting through parking bays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Forces path to stay inside driving lanes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B-Spline smoothing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sharp A* corners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Produces drivable curvature (car-like motion)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073450" y="1081525"/>
            <a:ext cx="36111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LOW-LEVEL CONTROLLER (PPO)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 (~</a:t>
            </a:r>
            <a:r>
              <a:rPr lang="en" sz="1200"/>
              <a:t>8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dims):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64-ray lidar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Vehicle state (x, y, yaw, v)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 geometry (cx, cy, yaw error)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Waypoint tracking (distance + heading)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Corridor offset + progress signals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 (continuous):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Steering  ∈ [−1, 1]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Throttle ∈ [−1, 1]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311700" y="148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 FUNCTION DESIGN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783875" y="2696875"/>
            <a:ext cx="2259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Blending:r_total = 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α(d) × r_nav + (1-α(d)) × r_park 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α(d) = d / 3.0 (weight decreases as approach)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6842075" y="1425275"/>
            <a:ext cx="21429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UNIVERSAL PENALTIES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Collision: -100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Timeout:  -50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183475" y="7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{8DC9723E-40F3-43EE-BB09-722605BC8AD1}</a:tableStyleId>
              </a:tblPr>
              <a:tblGrid>
                <a:gridCol w="3214225"/>
                <a:gridCol w="3214225"/>
              </a:tblGrid>
              <a:tr h="40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NAVIGATION PHASE (r_nav)  (dist &gt; 3.0m)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PARKING PHASE (r_park) (dist &lt; 3.0m)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3157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Waypoint Progress: +0.1 per meter (only if moving forward)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Lateral Alignment: +20.0 (1 - |cy|/0.8)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53157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Path Velocity: +0.5 × v_path </a:t>
                      </a:r>
                      <a:b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</a:b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(reward approaching goal)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Yaw Alignment: +15.0 (1 - |Δθ|/1.5) 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53157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Backward Penalty: -2.0 × |v| </a:t>
                      </a:r>
                      <a:b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</a:b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(strong discouragement)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Depth Progress: +10.0 × Δcx (drive deeper into bay)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608600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Anti-freeze: -0.01 </a:t>
                      </a:r>
                      <a:b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</a:b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(keep moving)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Success Bonus: +500.0 (dominates episode return)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401650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Distance Penalty: -0.002 × dist</a:t>
                      </a:r>
                      <a:endParaRPr sz="11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27957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●"/>
                      </a:pPr>
                      <a:r>
                        <a:rPr lang="en" sz="1100" u="none" cap="none" strike="noStrike"/>
                        <a:t>Corridor Drift Penalty:    −corridor_weight × |lateral_offset|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/>
        </p:nvSpPr>
        <p:spPr>
          <a:xfrm>
            <a:off x="311700" y="3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CURRICULUM LEARNING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6"/>
          <p:cNvGrpSpPr/>
          <p:nvPr/>
        </p:nvGrpSpPr>
        <p:grpSpPr>
          <a:xfrm>
            <a:off x="4255615" y="1721054"/>
            <a:ext cx="2618536" cy="1825323"/>
            <a:chOff x="4526679" y="1857800"/>
            <a:chExt cx="2480144" cy="1728853"/>
          </a:xfrm>
        </p:grpSpPr>
        <p:sp>
          <p:nvSpPr>
            <p:cNvPr id="98" name="Google Shape;98;p6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6525" lIns="96525" spcFirstLastPara="1" rIns="96525" wrap="square" tIns="96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" name="Google Shape;99;p6"/>
            <p:cNvGrpSpPr/>
            <p:nvPr/>
          </p:nvGrpSpPr>
          <p:grpSpPr>
            <a:xfrm>
              <a:off x="4526679" y="1857800"/>
              <a:ext cx="2480144" cy="1728853"/>
              <a:chOff x="4526679" y="1857800"/>
              <a:chExt cx="2480144" cy="1728853"/>
            </a:xfrm>
          </p:grpSpPr>
          <p:grpSp>
            <p:nvGrpSpPr>
              <p:cNvPr id="100" name="Google Shape;100;p6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01" name="Google Shape;101;p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2" name="Google Shape;102;p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6525" lIns="96525" spcFirstLastPara="1" rIns="96525" wrap="square" tIns="965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3" name="Google Shape;103;p6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89"/>
                  </a:spcAft>
                  <a:buClr>
                    <a:srgbClr val="000000"/>
                  </a:buClr>
                  <a:buSzPts val="1266"/>
                  <a:buFont typeface="Arial"/>
                  <a:buNone/>
                </a:pPr>
                <a:r>
                  <a:rPr b="1" i="0" lang="en" sz="1266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S2</a:t>
                </a:r>
                <a:endParaRPr b="1" i="0" sz="126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4" name="Google Shape;104;p6"/>
              <p:cNvSpPr txBox="1"/>
              <p:nvPr/>
            </p:nvSpPr>
            <p:spPr>
              <a:xfrm>
                <a:off x="4753223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3"/>
                  <a:buFont typeface="Arial"/>
                  <a:buNone/>
                </a:pPr>
                <a:r>
                  <a:rPr b="1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2 - Lot A</a:t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4"/>
                  <a:buFont typeface="Arial"/>
                  <a:buNone/>
                </a:pPr>
                <a:r>
                  <a:t/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1 + Other side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Spawns Along the road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Random spawn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Navigate the space and Park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5" name="Google Shape;105;p6"/>
          <p:cNvGrpSpPr/>
          <p:nvPr/>
        </p:nvGrpSpPr>
        <p:grpSpPr>
          <a:xfrm>
            <a:off x="6271275" y="2612990"/>
            <a:ext cx="2872980" cy="1832503"/>
            <a:chOff x="6435810" y="2702596"/>
            <a:chExt cx="2721140" cy="1735654"/>
          </a:xfrm>
        </p:grpSpPr>
        <p:sp>
          <p:nvSpPr>
            <p:cNvPr id="106" name="Google Shape;106;p6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6525" lIns="96525" spcFirstLastPara="1" rIns="96525" wrap="square" tIns="96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6"/>
            <p:cNvGrpSpPr/>
            <p:nvPr/>
          </p:nvGrpSpPr>
          <p:grpSpPr>
            <a:xfrm>
              <a:off x="6435810" y="2702596"/>
              <a:ext cx="2494563" cy="1735654"/>
              <a:chOff x="6435810" y="2702596"/>
              <a:chExt cx="2494563" cy="1735654"/>
            </a:xfrm>
          </p:grpSpPr>
          <p:grpSp>
            <p:nvGrpSpPr>
              <p:cNvPr id="108" name="Google Shape;108;p6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9" name="Google Shape;109;p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0" name="Google Shape;110;p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6525" lIns="96525" spcFirstLastPara="1" rIns="96525" wrap="square" tIns="965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" name="Google Shape;111;p6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89"/>
                  </a:spcAft>
                  <a:buClr>
                    <a:srgbClr val="000000"/>
                  </a:buClr>
                  <a:buSzPts val="1266"/>
                  <a:buFont typeface="Arial"/>
                  <a:buNone/>
                </a:pPr>
                <a:r>
                  <a:rPr b="1" i="0" lang="en" sz="1266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S3</a:t>
                </a:r>
                <a:endParaRPr b="1" i="0" sz="126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2" name="Google Shape;112;p6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3"/>
                  <a:buFont typeface="Arial"/>
                  <a:buNone/>
                </a:pPr>
                <a:r>
                  <a:rPr b="1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2 - Lot A + Lot B</a:t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2 + Lot B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Added Lot B, a t-shaped lot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Random spawn along the roads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Navigate the space and Park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3" name="Google Shape;113;p6"/>
          <p:cNvGrpSpPr/>
          <p:nvPr/>
        </p:nvGrpSpPr>
        <p:grpSpPr>
          <a:xfrm>
            <a:off x="14" y="1721054"/>
            <a:ext cx="2724736" cy="1825334"/>
            <a:chOff x="495991" y="1857800"/>
            <a:chExt cx="2580731" cy="1728863"/>
          </a:xfrm>
        </p:grpSpPr>
        <p:sp>
          <p:nvSpPr>
            <p:cNvPr id="114" name="Google Shape;114;p6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6525" lIns="96525" spcFirstLastPara="1" rIns="96525" wrap="square" tIns="96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" name="Google Shape;115;p6"/>
            <p:cNvGrpSpPr/>
            <p:nvPr/>
          </p:nvGrpSpPr>
          <p:grpSpPr>
            <a:xfrm>
              <a:off x="495991" y="1857800"/>
              <a:ext cx="2580731" cy="1728863"/>
              <a:chOff x="495991" y="1857800"/>
              <a:chExt cx="2580731" cy="1728863"/>
            </a:xfrm>
          </p:grpSpPr>
          <p:sp>
            <p:nvSpPr>
              <p:cNvPr id="116" name="Google Shape;116;p6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89"/>
                  </a:spcAft>
                  <a:buClr>
                    <a:srgbClr val="000000"/>
                  </a:buClr>
                  <a:buSzPts val="1266"/>
                  <a:buFont typeface="Arial"/>
                  <a:buNone/>
                </a:pPr>
                <a:r>
                  <a:rPr b="1" i="0" lang="en" sz="1266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S0</a:t>
                </a:r>
                <a:endParaRPr b="1" i="0" sz="126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17" name="Google Shape;117;p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18" name="Google Shape;118;p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9" name="Google Shape;119;p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6525" lIns="96525" spcFirstLastPara="1" rIns="96525" wrap="square" tIns="965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0" name="Google Shape;120;p6"/>
              <p:cNvSpPr txBox="1"/>
              <p:nvPr/>
            </p:nvSpPr>
            <p:spPr>
              <a:xfrm>
                <a:off x="823122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3"/>
                  <a:buFont typeface="Arial"/>
                  <a:buNone/>
                </a:pPr>
                <a:r>
                  <a:rPr b="1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0 - Aligned Spawn</a:t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4"/>
                  <a:buFont typeface="Arial"/>
                  <a:buNone/>
                </a:pPr>
                <a:r>
                  <a:t/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Aligned Start,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Lot A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6 Bays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Learn Basics and Park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" name="Google Shape;121;p6"/>
          <p:cNvGrpSpPr/>
          <p:nvPr/>
        </p:nvGrpSpPr>
        <p:grpSpPr>
          <a:xfrm>
            <a:off x="2142870" y="2612990"/>
            <a:ext cx="2640931" cy="1832503"/>
            <a:chOff x="2525595" y="2702596"/>
            <a:chExt cx="2501355" cy="1735654"/>
          </a:xfrm>
        </p:grpSpPr>
        <p:sp>
          <p:nvSpPr>
            <p:cNvPr id="122" name="Google Shape;122;p6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6525" lIns="96525" spcFirstLastPara="1" rIns="96525" wrap="square" tIns="96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6"/>
            <p:cNvGrpSpPr/>
            <p:nvPr/>
          </p:nvGrpSpPr>
          <p:grpSpPr>
            <a:xfrm>
              <a:off x="2525595" y="2702596"/>
              <a:ext cx="2501355" cy="1735654"/>
              <a:chOff x="2525595" y="2702596"/>
              <a:chExt cx="2501355" cy="1735654"/>
            </a:xfrm>
          </p:grpSpPr>
          <p:sp>
            <p:nvSpPr>
              <p:cNvPr id="124" name="Google Shape;124;p6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89"/>
                  </a:spcAft>
                  <a:buClr>
                    <a:srgbClr val="000000"/>
                  </a:buClr>
                  <a:buSzPts val="1266"/>
                  <a:buFont typeface="Arial"/>
                  <a:buNone/>
                </a:pPr>
                <a:r>
                  <a:rPr b="1" i="0" lang="en" sz="1266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S1</a:t>
                </a:r>
                <a:endParaRPr b="1" i="0" sz="126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25" name="Google Shape;125;p6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26" name="Google Shape;126;p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7" name="Google Shape;127;p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6525" lIns="96525" spcFirstLastPara="1" rIns="96525" wrap="square" tIns="965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8" name="Google Shape;128;p6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525" lIns="96525" spcFirstLastPara="1" rIns="96525" wrap="square" tIns="965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3"/>
                  <a:buFont typeface="Arial"/>
                  <a:buNone/>
                </a:pPr>
                <a:r>
                  <a:rPr b="1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Stage 1 - Lot A - Side A</a:t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4"/>
                  <a:buFont typeface="Arial"/>
                  <a:buNone/>
                </a:pPr>
                <a:r>
                  <a:t/>
                </a:r>
                <a:endParaRPr b="1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Add Cars in Other Bays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Spawns along the road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Random Spawn 22m max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282233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45"/>
                  <a:buFont typeface="Roboto"/>
                  <a:buChar char="●"/>
                </a:pPr>
                <a:r>
                  <a:rPr b="0" i="0" lang="en" sz="843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Navigate the space and Park</a:t>
                </a:r>
                <a:endParaRPr b="0" i="0" sz="843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 &amp; BROADER IMPACT     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NEXT STEPS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curriculum, Expected: 10-30% success rate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Sim-to-real transfer with TurtleBot3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Multi-agent coordination  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LESSONS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RL works (20x speedup)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Curriculum essential (300x improvement)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Reward engineering critical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0" i="0" lang="en" sz="28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28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t/>
            </a:r>
            <a:endParaRPr b="0" i="0" sz="15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https://arxiv.org/html/2407.01333v1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https://github.com/Harish-Balaji-B/Ros2_humble_Autonomous_Parking_System_using_Turtlebot3_Waffle/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https://github.com/aatmaj28/Autonomous-Car-Parking-RL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https://arxiv.org/abs/1707.06347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https://arxiv.org/abs/1805.08296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